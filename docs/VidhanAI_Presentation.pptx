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002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AI-POWERED LEGAL LEARNING FOR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7800" b="1" i="0">
                <a:solidFill>
                  <a:srgbClr val="FFFFFF"/>
                </a:solidFill>
                <a:latin typeface="Segoe UI"/>
              </a:defRPr>
            </a:pPr>
            <a:r>
              <a:t>VidhanAI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11880"/>
            <a:ext cx="9692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500" b="0" i="0">
                <a:solidFill>
                  <a:srgbClr val="C7D2FE"/>
                </a:solidFill>
                <a:latin typeface="Segoe UI"/>
              </a:defRPr>
            </a:pPr>
            <a:r>
              <a:t>Understanding Indian criminal law shouldn't need a law degree.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900" b="0" i="0">
                <a:solidFill>
                  <a:srgbClr val="94A3B8"/>
                </a:solidFill>
                <a:latin typeface="Segoe UI"/>
              </a:defRPr>
            </a:pPr>
            <a:r>
              <a:t>Ask. Learn. Watch. Practise — in your own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5074920"/>
            <a:ext cx="23774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34924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t>A web platform that turns dense legal text into plain-language answers,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400" b="0" i="0">
                <a:solidFill>
                  <a:srgbClr val="94A3B8"/>
                </a:solidFill>
                <a:latin typeface="Segoe UI"/>
              </a:defRPr>
            </a:pPr>
            <a:r>
              <a:t>voice lessons, comics and quizzes — for every Indian citizen.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WHY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The law changed. Nobody explained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10835640" cy="1234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858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0" i="0">
                <a:solidFill>
                  <a:srgbClr val="0F172A"/>
                </a:solidFill>
                <a:latin typeface="Segoe UI"/>
              </a:defRPr>
            </a:pPr>
            <a:r>
              <a:t>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47672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A 164-year-old law was replaced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In 2023 India replaced the Indian Penal Code with the Bharatiya Nyaya Sanhita.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Almost every section was renumbered and reworded.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64408"/>
            <a:ext cx="10835640" cy="1234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264408"/>
            <a:ext cx="6858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0" i="0">
                <a:solidFill>
                  <a:srgbClr val="0F172A"/>
                </a:solidFill>
                <a:latin typeface="Segoe UI"/>
              </a:defRPr>
            </a:pPr>
            <a: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429000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Legal language is hard to read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Sections are written in formal, archaic English — dense for students and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nearly impossible for an ordinary citizen to act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745736"/>
            <a:ext cx="10835640" cy="1234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45736"/>
            <a:ext cx="68580" cy="12344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001768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600" b="0" i="0">
                <a:solidFill>
                  <a:srgbClr val="0F172A"/>
                </a:solidFill>
                <a:latin typeface="Segoe UI"/>
              </a:defRPr>
            </a:pPr>
            <a:r>
              <a:t>🗣️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910328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1" i="0">
                <a:solidFill>
                  <a:srgbClr val="0F172A"/>
                </a:solidFill>
                <a:latin typeface="Segoe UI"/>
              </a:defRPr>
            </a:pPr>
            <a:r>
              <a:t>It only exists in English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Most legal resources ignore India's regional languages, leaving out the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people who most need to know their rights.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OUR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Built for four kinds of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26060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26060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 i="0">
                <a:solidFill>
                  <a:srgbClr val="0F172A"/>
                </a:solidFill>
                <a:latin typeface="Segoe UI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Segoe UI"/>
              </a:defRPr>
            </a:pPr>
            <a:r>
              <a:t>Law &amp; CLAT aspirants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Need drills, chapter-wise study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and old-vs-new comparisons.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965960"/>
            <a:ext cx="26060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965960"/>
            <a:ext cx="26060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28600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 i="0">
                <a:solidFill>
                  <a:srgbClr val="0F172A"/>
                </a:solidFill>
                <a:latin typeface="Segoe UI"/>
              </a:defRPr>
            </a:pPr>
            <a:r>
              <a:t>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01752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Segoe UI"/>
              </a:defRPr>
            </a:pPr>
            <a:r>
              <a:t>Everyday citizens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Want a plain answer to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"what happens if…?"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965960"/>
            <a:ext cx="26060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965960"/>
            <a:ext cx="26060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228600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 i="0">
                <a:solidFill>
                  <a:srgbClr val="0F172A"/>
                </a:solidFill>
                <a:latin typeface="Segoe UI"/>
              </a:defRPr>
            </a:pPr>
            <a:r>
              <a:t>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01752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Segoe UI"/>
              </a:defRPr>
            </a:pPr>
            <a:r>
              <a:t>Police &amp; paralegal staff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Need fast lookups: punishment,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bailable, cognizable.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65960"/>
            <a:ext cx="260604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965960"/>
            <a:ext cx="26060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28600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200" b="0" i="0">
                <a:solidFill>
                  <a:srgbClr val="0F172A"/>
                </a:solidFill>
                <a:latin typeface="Segoe UI"/>
              </a:defRPr>
            </a:pPr>
            <a: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017520"/>
            <a:ext cx="2103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Segoe UI"/>
              </a:defRPr>
            </a:pPr>
            <a:r>
              <a:t>Curious learners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Learn better from comics,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50" b="0" i="0">
                <a:solidFill>
                  <a:srgbClr val="64748B"/>
                </a:solidFill>
                <a:latin typeface="Segoe UI"/>
              </a:defRPr>
            </a:pPr>
            <a:r>
              <a:t>quizzes and a talking tutor.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How VidhanAI works — in three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520440" cy="3108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402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You ask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Type or speak your question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in plain words — in English,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Hindi, Tamil, Kannada,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Telugu, Marathi or Malayalam.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920240"/>
            <a:ext cx="3520440" cy="3108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82312" y="22402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06324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We find the real law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VidhanAI searches a verified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database of 935 IPC and BNS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sections and picks the ones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that actually apply.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920240"/>
            <a:ext cx="3520440" cy="310896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58784" y="22402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063240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You get it explained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The answer comes back 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everyday language — with the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exact section, punishment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and a real-life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835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50" b="1" i="0">
                <a:solidFill>
                  <a:srgbClr val="4F46E5"/>
                </a:solidFill>
                <a:latin typeface="Segoe UI"/>
              </a:defRPr>
            </a:pPr>
            <a:r>
              <a:t>Every answer is grounded in the real law text — the AI is not allowed to invent sections.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WHAT'S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Six ways to learn the 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29968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💬  Ask 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Chat with a legal assistant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that cites real sections.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828800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1828800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29968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🎓  Law Tutor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A voice teacher who walks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you through each chapter.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828800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38744" y="1828800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2029968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🎨  Comic Story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Turns a law into a 6-panel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illustrated story.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77639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77639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178807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⚖️  IPC ↔ BNS Compare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See exactly what changed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between old and new law.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2272" y="3977639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2272" y="3977639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178807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🧠  Quiz Hub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Practise with quizzes, XP,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badges and streaks.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4" y="3977639"/>
            <a:ext cx="3520440" cy="1874519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38744" y="3977639"/>
            <a:ext cx="68580" cy="1874519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4178807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  <a:defRPr sz="1800" b="1" i="0">
                <a:solidFill>
                  <a:srgbClr val="0F172A"/>
                </a:solidFill>
                <a:latin typeface="Segoe UI"/>
              </a:defRPr>
            </a:pPr>
            <a:r>
              <a:t>🛡️  Know Your Rights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Everyday legal awareness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and safety tips.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Ask AI — your legal doubt, answered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4206240" cy="370332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566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6000" b="0" i="0">
                <a:solidFill>
                  <a:srgbClr val="0F172A"/>
                </a:solidFill>
                <a:latin typeface="Segoe UI"/>
              </a:defRPr>
            </a:pPr>
            <a:r>
              <a:t>💬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Ask anything about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Indian criminal law,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in your own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965960"/>
            <a:ext cx="6172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Answers you can trust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Every reply quotes the actual BNS or IPC section it came from, so nothing is made up.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Explains, doesn't just quote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Tells you what the section means, the punishment, and whether it is bailable — in plain words.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Ask by voice, in your language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Speak the question instead of typing, and hear the answer read back to you.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742432"/>
            <a:ext cx="108356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4F46E5"/>
                </a:solidFill>
                <a:latin typeface="Segoe UI"/>
              </a:defRPr>
            </a:pPr>
            <a:r>
              <a:t>Example: "My landlord locked my belongings inside the flat — what can I do?"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Law Tutor — a teacher who talks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4206240" cy="370332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566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6000" b="0" i="0">
                <a:solidFill>
                  <a:srgbClr val="0F172A"/>
                </a:solidFill>
                <a:latin typeface="Segoe UI"/>
              </a:defRPr>
            </a:pPr>
            <a:r>
              <a:t>🎓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JD teaches BNS and IPC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chapter by chapter,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out 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965960"/>
            <a:ext cx="6172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 real classroom flow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JD introduces the chapter, teaches each section, then asks a question to check you understood.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Stop and ask anytime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Interrupt mid-lesson with a doubt — JD answers it and carries on where it left off.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Ends with a test and a badge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 10-question assessment closes each chapter, with feedback on what to revise.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742432"/>
            <a:ext cx="108356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4F46E5"/>
                </a:solidFill>
                <a:latin typeface="Segoe UI"/>
              </a:defRPr>
            </a:pPr>
            <a:r>
              <a:t>Speaks all 7 supported languages in their own script — not just English in an Indian accent.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Comic Story — the law as a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4206240" cy="370332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566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6000" b="0" i="0">
                <a:solidFill>
                  <a:srgbClr val="0F172A"/>
                </a:solidFill>
                <a:latin typeface="Segoe UI"/>
              </a:defRPr>
            </a:pPr>
            <a:r>
              <a:t>🎨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One legal section,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six illustrated panels,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one clear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965960"/>
            <a:ext cx="6172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 story you remember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Crime → impact → investigation → legal action → outcome → lesson, with the same characters throughout.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Speech bubbles you can read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Real dialogue is laid over the artwork, so the story reads like an actual comic.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Ask about what you're seeing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 built-in explainer walks through the panels and why the law applies.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742432"/>
            <a:ext cx="108356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4F46E5"/>
                </a:solidFill>
                <a:latin typeface="Segoe UI"/>
              </a:defRPr>
            </a:pPr>
            <a:r>
              <a:t>Built for learners who remember pictures far better than paragraphs.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FEATURE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IPC ↔ BNS — see what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4206240" cy="370332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5661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6000" b="0" i="0">
                <a:solidFill>
                  <a:srgbClr val="0F172A"/>
                </a:solidFill>
                <a:latin typeface="Segoe UI"/>
              </a:defRPr>
            </a:pPr>
            <a:r>
              <a:t>⚖️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The old law and the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new law, placed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side by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1965960"/>
            <a:ext cx="6172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Find the new number fast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Cheating was IPC 420 — now BNS 318. The tool maps old sections to new ones instantly.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Spot the real differences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Renumbering, changed punishments and reworded definitions are highlighted, not buried.</a:t>
            </a:r>
          </a:p>
          <a:p>
            <a:pPr>
              <a:spcBef>
                <a:spcPts val="1300"/>
              </a:spcBef>
              <a:spcAft>
                <a:spcPts val="400"/>
              </a:spcAft>
              <a:defRPr sz="1750" b="1" i="0">
                <a:solidFill>
                  <a:srgbClr val="0F172A"/>
                </a:solidFill>
                <a:latin typeface="Segoe UI"/>
              </a:defRPr>
            </a:pPr>
            <a:r>
              <a:t>A plain-language summary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An AI summary explains what the change means in practice.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742432"/>
            <a:ext cx="108356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4F46E5"/>
                </a:solidFill>
                <a:latin typeface="Segoe UI"/>
              </a:defRPr>
            </a:pPr>
            <a:r>
              <a:t>935 sections mapped: 577 from the IPC 1860 and 358 from the BNS 2023.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Seven languages, in their own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हिन्दी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Hindi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தமிழ்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Tamil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ಕನ್ನಡ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Kannada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తెలుగు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Telugu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मराठी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Marathi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12680" y="1965960"/>
            <a:ext cx="1481328" cy="1691640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286000"/>
            <a:ext cx="1481328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900" b="1" i="0">
                <a:solidFill>
                  <a:srgbClr val="4F46E5"/>
                </a:solidFill>
                <a:latin typeface="Nirmala UI"/>
              </a:defRPr>
            </a:pPr>
            <a:r>
              <a:t>മലയാളം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999232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0">
                <a:solidFill>
                  <a:srgbClr val="64748B"/>
                </a:solidFill>
                <a:latin typeface="Segoe UI"/>
              </a:defRPr>
            </a:pPr>
            <a:r>
              <a:t>Malayalam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69080"/>
            <a:ext cx="10835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Not just translated — actually taught.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64748B"/>
                </a:solidFill>
                <a:latin typeface="Segoe UI"/>
              </a:defRPr>
            </a:pPr>
            <a:r>
              <a:t>Lessons, comics, quizzes and the AI tutor's voice all work in every language above.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1600" b="0" i="0">
                <a:solidFill>
                  <a:srgbClr val="64748B"/>
                </a:solidFill>
                <a:latin typeface="Segoe UI"/>
              </a:defRPr>
            </a:pPr>
            <a:r>
              <a:t>A specialised Indian-language AI writes each script correctly, so a Malayalam lesson reads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64748B"/>
                </a:solidFill>
                <a:latin typeface="Segoe UI"/>
              </a:defRPr>
            </a:pPr>
            <a:r>
              <a:t>as natural Malayalam — not as English words in Malayalam letters.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HOW IT'S PUT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Three parts,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352044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5204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926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3400" b="0" i="0">
                <a:solidFill>
                  <a:srgbClr val="0F172A"/>
                </a:solidFill>
                <a:latin typeface="Segoe UI"/>
              </a:defRPr>
            </a:pPr>
            <a:r>
              <a:t>🖥️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What users see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The website — home page,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Ask AI, tutor, comics,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quizzes and your profile.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250" b="1" i="1">
                <a:solidFill>
                  <a:srgbClr val="4F46E5"/>
                </a:solidFill>
                <a:latin typeface="Segoe UI"/>
              </a:defRPr>
            </a:pPr>
            <a:r>
              <a:t>Works on phone and laptop.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920240"/>
            <a:ext cx="352044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1920240"/>
            <a:ext cx="35204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240280"/>
            <a:ext cx="2926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3400" b="0" i="0">
                <a:solidFill>
                  <a:srgbClr val="0F172A"/>
                </a:solidFill>
                <a:latin typeface="Segoe UI"/>
              </a:defRPr>
            </a:pPr>
            <a:r>
              <a:t>🧠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The brain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Stores all 935 law sections,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finds the right one, and asks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the AI to explain it simply.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250" b="1" i="1">
                <a:solidFill>
                  <a:srgbClr val="4F46E5"/>
                </a:solidFill>
                <a:latin typeface="Segoe UI"/>
              </a:defRPr>
            </a:pPr>
            <a:r>
              <a:t>Keeps every answer tied to real law.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38744" y="1920240"/>
            <a:ext cx="352044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38744" y="1920240"/>
            <a:ext cx="3520440" cy="822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2240280"/>
            <a:ext cx="29260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3400" b="0" i="0">
                <a:solidFill>
                  <a:srgbClr val="0F172A"/>
                </a:solidFill>
                <a:latin typeface="Segoe UI"/>
              </a:defRPr>
            </a:pPr>
            <a:r>
              <a:t>🛠️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2000" b="1" i="0">
                <a:solidFill>
                  <a:srgbClr val="0F172A"/>
                </a:solidFill>
                <a:latin typeface="Segoe UI"/>
              </a:defRPr>
            </a:pPr>
            <a:r>
              <a:t>The control room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An admin panel to manage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law entries, users, reviews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64748B"/>
                </a:solidFill>
                <a:latin typeface="Segoe UI"/>
              </a:defRPr>
            </a:pPr>
            <a:r>
              <a:t>and see platform activity.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250" b="1" i="1">
                <a:solidFill>
                  <a:srgbClr val="4F46E5"/>
                </a:solidFill>
                <a:latin typeface="Segoe UI"/>
              </a:defRPr>
            </a:pPr>
            <a:r>
              <a:t>Used by the team, not the public.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Free to start, Pro to go deeper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493776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297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64748B"/>
                </a:solidFill>
                <a:latin typeface="Segoe UI"/>
              </a:defRPr>
            </a:pPr>
            <a:r>
              <a:t>FREE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400" b="1" i="0">
                <a:solidFill>
                  <a:srgbClr val="0F172A"/>
                </a:solidFill>
                <a:latin typeface="Segoe UI"/>
              </a:defRPr>
            </a:pPr>
            <a:r>
              <a:t>For everyday questions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64748B"/>
                </a:solidFill>
                <a:latin typeface="Segoe UI"/>
              </a:defRPr>
            </a:pPr>
            <a:r>
              <a:t>✓   5 AI legal questions every day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64748B"/>
                </a:solidFill>
                <a:latin typeface="Segoe UI"/>
              </a:defRPr>
            </a:pPr>
            <a:r>
              <a:t>✓   Full BNS &amp; IPC section search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64748B"/>
                </a:solidFill>
                <a:latin typeface="Segoe UI"/>
              </a:defRPr>
            </a:pPr>
            <a:r>
              <a:t>✓   IPC ↔ BNS comparison tool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64748B"/>
                </a:solidFill>
                <a:latin typeface="Segoe UI"/>
              </a:defRPr>
            </a:pPr>
            <a:r>
              <a:t>✓   Know Your Rights content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64748B"/>
                </a:solidFill>
                <a:latin typeface="Segoe UI"/>
              </a:defRPr>
            </a:pPr>
            <a:r>
              <a:t>✓  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920240"/>
            <a:ext cx="493776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920240"/>
            <a:ext cx="4937760" cy="100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194560"/>
            <a:ext cx="4297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1" i="0">
                <a:solidFill>
                  <a:srgbClr val="F59E0B"/>
                </a:solidFill>
                <a:latin typeface="Segoe UI"/>
              </a:defRPr>
            </a:pPr>
            <a:r>
              <a:t>PRO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400" b="1" i="0">
                <a:solidFill>
                  <a:srgbClr val="FFFFFF"/>
                </a:solidFill>
                <a:latin typeface="Segoe UI"/>
              </a:defRPr>
            </a:pPr>
            <a:r>
              <a:t>For serious learners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C7D2FE"/>
                </a:solidFill>
                <a:latin typeface="Segoe UI"/>
              </a:defRPr>
            </a:pPr>
            <a:r>
              <a:t>✓   Unlimited AI questions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C7D2FE"/>
                </a:solidFill>
                <a:latin typeface="Segoe UI"/>
              </a:defRPr>
            </a:pPr>
            <a:r>
              <a:t>✓   AI Law Tutor with voice lessons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C7D2FE"/>
                </a:solidFill>
                <a:latin typeface="Segoe UI"/>
              </a:defRPr>
            </a:pPr>
            <a:r>
              <a:t>✓   Comic Story generator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C7D2FE"/>
                </a:solidFill>
                <a:latin typeface="Segoe UI"/>
              </a:defRPr>
            </a:pPr>
            <a:r>
              <a:t>✓   Quiz Hub, XP and badges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450" b="0" i="0">
                <a:solidFill>
                  <a:srgbClr val="C7D2FE"/>
                </a:solidFill>
                <a:latin typeface="Segoe UI"/>
              </a:defRPr>
            </a:pPr>
            <a:r>
              <a:t>✓   All 7 Indian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Secure subscription payments handled by Razorpay — cancel anytime.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F59E0B"/>
                </a:solidFill>
                <a:latin typeface="Segoe UI"/>
              </a:defRPr>
            </a:pPr>
            <a: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FFFFFF"/>
                </a:solidFill>
                <a:latin typeface="Segoe UI"/>
              </a:defRPr>
            </a:pPr>
            <a:r>
              <a:t>VidhanAI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2606040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935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law sections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in the database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2148840"/>
            <a:ext cx="2606040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21488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25146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6118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Indian languages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supported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2148840"/>
            <a:ext cx="2606040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21488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5146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6118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ways to learn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the same law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2148840"/>
            <a:ext cx="2606040" cy="2377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2148840"/>
            <a:ext cx="26060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2514600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36118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legal codes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defRPr sz="1350" b="0" i="0">
                <a:solidFill>
                  <a:srgbClr val="94A3B8"/>
                </a:solidFill>
                <a:latin typeface="Segoe UI"/>
              </a:defRPr>
            </a:pPr>
            <a:r>
              <a:t>mapped end to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0835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0" i="0">
                <a:solidFill>
                  <a:srgbClr val="C7D2FE"/>
                </a:solidFill>
                <a:latin typeface="Segoe UI"/>
              </a:defRPr>
            </a:pPr>
            <a:r>
              <a:t>Every section carries its punishment, whether it is bailable, whether police can arrest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500" b="0" i="0">
                <a:solidFill>
                  <a:srgbClr val="C7D2FE"/>
                </a:solidFill>
                <a:latin typeface="Segoe UI"/>
              </a:defRPr>
            </a:pPr>
            <a:r>
              <a:t>without a warrant, and a plain-language explanation with a real-life example.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94A3B8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1" i="0">
                <a:solidFill>
                  <a:srgbClr val="4F46E5"/>
                </a:solidFill>
                <a:latin typeface="Segoe UI"/>
              </a:defRPr>
            </a:pPr>
            <a: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4124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3400" b="1" i="0">
                <a:solidFill>
                  <a:srgbClr val="0F172A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20240"/>
            <a:ext cx="68580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100" b="1" i="0">
                <a:solidFill>
                  <a:srgbClr val="0F172A"/>
                </a:solidFill>
                <a:latin typeface="Segoe UI"/>
              </a:defRPr>
            </a:pPr>
            <a:r>
              <a:t>Legal awareness is self-defence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Knowing which section applies — and what it actually means — is the difference between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being taken advantage of and standing your 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18688"/>
            <a:ext cx="68580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18688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100" b="1" i="0">
                <a:solidFill>
                  <a:srgbClr val="0F172A"/>
                </a:solidFill>
                <a:latin typeface="Segoe UI"/>
              </a:defRPr>
            </a:pPr>
            <a:r>
              <a:t>The BNS transition affects everyone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Police, students and citizens are all working with renumbered law. A clear IPC ↔ BNS 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removes a real, current source of confusion.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517136"/>
            <a:ext cx="68580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17136"/>
            <a:ext cx="10332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100" b="1" i="0">
                <a:solidFill>
                  <a:srgbClr val="0F172A"/>
                </a:solidFill>
                <a:latin typeface="Segoe UI"/>
              </a:defRPr>
            </a:pPr>
            <a:r>
              <a:t>Language should not be a barrier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A citizen in Kerala or Karnataka deserves the same clarity as one in Delhi — in the language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 b="0" i="0">
                <a:solidFill>
                  <a:srgbClr val="64748B"/>
                </a:solidFill>
                <a:latin typeface="Segoe UI"/>
              </a:defRPr>
            </a:pPr>
            <a:r>
              <a:t>they actually think 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669280"/>
            <a:ext cx="10835640" cy="566928"/>
          </a:xfrm>
          <a:prstGeom prst="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779008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4F46E5"/>
                </a:solidFill>
                <a:latin typeface="Segoe UI"/>
              </a:defRPr>
            </a:pPr>
            <a:r>
              <a:t>VidhanAI's goal is simple: make the law readable by the people it governs.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 i="0">
                <a:solidFill>
                  <a:srgbClr val="64748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50" b="0" i="0">
                <a:solidFill>
                  <a:srgbClr val="64748B"/>
                </a:solidFill>
                <a:latin typeface="Segoe UI"/>
              </a:defRPr>
            </a:pPr>
            <a:r>
              <a:t>VidhanAI — Law Made Simple, For Everyone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6200" b="1" i="0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2400" b="1" i="0">
                <a:solidFill>
                  <a:srgbClr val="F59E0B"/>
                </a:solidFill>
                <a:latin typeface="Segoe UI"/>
              </a:defRPr>
            </a:pPr>
            <a:r>
              <a:t>VidhanAI — Law Made Simple, For Everyone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700" b="0" i="0">
                <a:solidFill>
                  <a:srgbClr val="94A3B8"/>
                </a:solidFill>
                <a:latin typeface="Segoe UI"/>
              </a:defRPr>
            </a:pPr>
            <a:r>
              <a:t>Questions are welcome.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029200"/>
            <a:ext cx="23774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